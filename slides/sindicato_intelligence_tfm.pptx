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5e9b8187a44587" /><Relationship Type="http://schemas.openxmlformats.org/officeDocument/2006/relationships/extended-properties" Target="/docProps/app.xml" Id="Ra96ed27a2b9c49e9" /><Relationship Type="http://schemas.openxmlformats.org/officeDocument/2006/relationships/officeDocument" Target="/ppt/presentation.xml" Id="Ra19c62006de144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2edc4e79d44c40"/>
  </p:sldMasterIdLst>
  <p:notesMasterIdLst>
    <p:notesMasterId xmlns:r="http://schemas.openxmlformats.org/officeDocument/2006/relationships" r:id="Rf3c748c2baba4c56"/>
  </p:notesMasterIdLst>
  <p:sldIdLst>
    <p:sldId xmlns:r="http://schemas.openxmlformats.org/officeDocument/2006/relationships" id="256" r:id="R5f87e11b219c4612"/>
    <p:sldId xmlns:r="http://schemas.openxmlformats.org/officeDocument/2006/relationships" id="257" r:id="Rad38d58c215f459b"/>
    <p:sldId xmlns:r="http://schemas.openxmlformats.org/officeDocument/2006/relationships" id="258" r:id="Rf95310b58bfd47b6"/>
    <p:sldId xmlns:r="http://schemas.openxmlformats.org/officeDocument/2006/relationships" id="259" r:id="R86b2ef6e08214067"/>
    <p:sldId xmlns:r="http://schemas.openxmlformats.org/officeDocument/2006/relationships" id="260" r:id="Ra519b8f82b9e4e02"/>
    <p:sldId xmlns:r="http://schemas.openxmlformats.org/officeDocument/2006/relationships" id="261" r:id="Re0362f6e16b74ed5"/>
    <p:sldId xmlns:r="http://schemas.openxmlformats.org/officeDocument/2006/relationships" id="262" r:id="R9bc99ffef57d4fed"/>
    <p:sldId xmlns:r="http://schemas.openxmlformats.org/officeDocument/2006/relationships" id="263" r:id="R44591339b1124fd8"/>
    <p:sldId xmlns:r="http://schemas.openxmlformats.org/officeDocument/2006/relationships" id="264" r:id="Rf1b45f3f9f5048de"/>
    <p:sldId xmlns:r="http://schemas.openxmlformats.org/officeDocument/2006/relationships" id="265" r:id="Rcce04ac73d7049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1eba4eab9b4aa5" /><Relationship Type="http://schemas.openxmlformats.org/officeDocument/2006/relationships/slideMaster" Target="/ppt/slideMasters/slideMaster1.xml" Id="R252edc4e79d44c40" /><Relationship Type="http://schemas.openxmlformats.org/officeDocument/2006/relationships/notesMaster" Target="/ppt/notesMasters/notesMaster1.xml" Id="Rf3c748c2baba4c56" /><Relationship Type="http://schemas.openxmlformats.org/officeDocument/2006/relationships/presProps" Target="/ppt/presProps.xml" Id="Rea6e982269a949fc" /><Relationship Type="http://schemas.openxmlformats.org/officeDocument/2006/relationships/tableStyles" Target="/ppt/tableStyles.xml" Id="Rf1cc5796aeb74867" /><Relationship Type="http://schemas.openxmlformats.org/officeDocument/2006/relationships/slide" Target="/ppt/slides/slide1.xml" Id="R5f87e11b219c4612" /><Relationship Type="http://schemas.openxmlformats.org/officeDocument/2006/relationships/slide" Target="/ppt/slides/slide2.xml" Id="Rad38d58c215f459b" /><Relationship Type="http://schemas.openxmlformats.org/officeDocument/2006/relationships/slide" Target="/ppt/slides/slide3.xml" Id="Rf95310b58bfd47b6" /><Relationship Type="http://schemas.openxmlformats.org/officeDocument/2006/relationships/slide" Target="/ppt/slides/slide4.xml" Id="R86b2ef6e08214067" /><Relationship Type="http://schemas.openxmlformats.org/officeDocument/2006/relationships/slide" Target="/ppt/slides/slide5.xml" Id="Ra519b8f82b9e4e02" /><Relationship Type="http://schemas.openxmlformats.org/officeDocument/2006/relationships/slide" Target="/ppt/slides/slide6.xml" Id="Re0362f6e16b74ed5" /><Relationship Type="http://schemas.openxmlformats.org/officeDocument/2006/relationships/slide" Target="/ppt/slides/slide7.xml" Id="R9bc99ffef57d4fed" /><Relationship Type="http://schemas.openxmlformats.org/officeDocument/2006/relationships/slide" Target="/ppt/slides/slide8.xml" Id="R44591339b1124fd8" /><Relationship Type="http://schemas.openxmlformats.org/officeDocument/2006/relationships/slide" Target="/ppt/slides/slide9.xml" Id="Rf1b45f3f9f5048de" /><Relationship Type="http://schemas.openxmlformats.org/officeDocument/2006/relationships/slide" Target="/ppt/slides/slide10.xml" Id="Rcce04ac73d7049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0712664d9d45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df2066a02b4da1" /><Relationship Type="http://schemas.openxmlformats.org/officeDocument/2006/relationships/notesMaster" Target="/ppt/notesMasters/notesMaster1.xml" Id="Rdc75456fbfe844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7f5ee625954b30" /><Relationship Type="http://schemas.openxmlformats.org/officeDocument/2006/relationships/notesMaster" Target="/ppt/notesMasters/notesMaster1.xml" Id="Rf593bdec5ba042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1b0cc1398f4307" /><Relationship Type="http://schemas.openxmlformats.org/officeDocument/2006/relationships/notesMaster" Target="/ppt/notesMasters/notesMaster1.xml" Id="R5b8733641a314d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4688381c7d4c70" /><Relationship Type="http://schemas.openxmlformats.org/officeDocument/2006/relationships/notesMaster" Target="/ppt/notesMasters/notesMaster1.xml" Id="R60811843b3f845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a394fdb4a54243" /><Relationship Type="http://schemas.openxmlformats.org/officeDocument/2006/relationships/notesMaster" Target="/ppt/notesMasters/notesMaster1.xml" Id="R1b287dfaf89d47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85e57c27ad4a4b" /><Relationship Type="http://schemas.openxmlformats.org/officeDocument/2006/relationships/notesMaster" Target="/ppt/notesMasters/notesMaster1.xml" Id="R18648ac0039041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80698ed37b46e0" /><Relationship Type="http://schemas.openxmlformats.org/officeDocument/2006/relationships/notesMaster" Target="/ppt/notesMasters/notesMaster1.xml" Id="R68429bcd982e48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b79633433e4c93" /><Relationship Type="http://schemas.openxmlformats.org/officeDocument/2006/relationships/notesMaster" Target="/ppt/notesMasters/notesMaster1.xml" Id="Rd4e404fa2bc345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ddf9c26ecc4608" /><Relationship Type="http://schemas.openxmlformats.org/officeDocument/2006/relationships/notesMaster" Target="/ppt/notesMasters/notesMaster1.xml" Id="R1a7801ced38c4d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f9cd35eae84edf" /><Relationship Type="http://schemas.openxmlformats.org/officeDocument/2006/relationships/notesMaster" Target="/ppt/notesMasters/notesMaster1.xml" Id="R1e5a3bace33746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proyecto en una frase y explicar que Event es el centro del dominio.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docs/Documentacion Proyecto/Documento 30 – MVP Técnico Ejecutable.md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coste del seguimiento manual y el riesgo de duplicar decisiones editoriales.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Documentacion-TFM-Fundae-1.pdf</a:t>
            </a:r>
          </a:p>
          <a:p xmlns:a="http://schemas.openxmlformats.org/drawingml/2006/main">
            <a:r>
              <a:t>- docs/Documentacion Proyecto/Documento 01 - Visión y Arquitectura General del Sistema.md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n8n solo captura. Toda regla, scheduler, IA, seguridad y publicación vive en Spring Boot.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docs/Documentacion Proyecto/Documento 18 – Estructura Spring Boot.md</a:t>
            </a:r>
          </a:p>
          <a:p xmlns:a="http://schemas.openxmlformats.org/drawingml/2006/main">
            <a:r>
              <a:t>- docs/Documentacion Proyecto/Documento 09 V2.0 - Arquitectura de Integraciones y Workflows n8n.md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News, Event, Analysis, Content y Publication. Reforzar que Event es el aggregate root principal.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docs/Documentacion Proyecto/Documento 17 – Modelo de Dominio (DDD).md</a:t>
            </a:r>
          </a:p>
          <a:p xmlns:a="http://schemas.openxmlformats.org/drawingml/2006/main">
            <a:r>
              <a:t>- docs/Documentacion Proyecto/Documento 30 – MVP Técnico Ejecutable.md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slide como transición a la demostración real. Señalar dashboard, avisos y eventos prioritarios.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slides/assets/dashboard.png (captura local 25/07/2026)</a:t>
            </a:r>
          </a:p>
          <a:p xmlns:a="http://schemas.openxmlformats.org/drawingml/2006/main">
            <a:r>
              <a:t>- frontend/src/app/features/dashboard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Contrastar la pantalla editorial de Eventos con el centro ADMIN de settings.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slides/assets/events.png (captura local 25/07/2026)</a:t>
            </a:r>
          </a:p>
          <a:p xmlns:a="http://schemas.openxmlformats.org/drawingml/2006/main">
            <a:r>
              <a:t>- slides/assets/settings.png (captura local 25/07/2026)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Diferenciar captura externa, inteligencia interna y decisión humana. Mencionar proveedor determinista y Gemini configurable.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docs/Documentacion Proyecto/Documento 23 – Catálogo de Prompts IA.md</a:t>
            </a:r>
          </a:p>
          <a:p xmlns:a="http://schemas.openxmlformats.org/drawingml/2006/main">
            <a:r>
              <a:t>- docs/Documentacion Proyecto/2026_06_27_flujo_completo_wf_01_wf_06.md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JWT, roles y la regla de aprobación. Recalcar que el backend aplica autorización y el contenido editado vuelve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docs/Documentacion Proyecto/Documento 13 - Seguridad y Roles.md</a:t>
            </a:r>
          </a:p>
          <a:p xmlns:a="http://schemas.openxmlformats.org/drawingml/2006/main">
            <a:r>
              <a:t>- backend/src/main/java/es/sindicato/intelligence/core/config/SecurityConfig.java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resultados verificados, el audit de producción y el arranque reproducible. No afirmar cobertura porcentual no medida.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docs/Documentacion Proyecto/Documento 15 - Plan de Pruebas.md</a:t>
            </a:r>
          </a:p>
          <a:p xmlns:a="http://schemas.openxmlformats.org/drawingml/2006/main">
            <a:r>
              <a:t>- docs/Documentacion_Final/2026_07_25_informe_preparacion_entrega_tfm.md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resolviendo el problema inicial: menos trabajo repetitivo, un evento por hecho y revisión humana antes de publicar.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docs/Documentacion Proyecto/Documento 30 – MVP Técnico Ejecutable.md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0d366ac11c49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762f40f4a64e81" /><Relationship Type="http://schemas.openxmlformats.org/officeDocument/2006/relationships/slideLayout" Target="/ppt/slideLayouts/slideLayout1.xml" Id="R0a334bd1b11849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334bd1b11849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162f2c3a44361" /><Relationship Type="http://schemas.openxmlformats.org/officeDocument/2006/relationships/notesSlide" Target="/ppt/notesSlides/notesSlide1.xml" Id="Ra33a1134547747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4668d31064e25" /><Relationship Type="http://schemas.openxmlformats.org/officeDocument/2006/relationships/notesSlide" Target="/ppt/notesSlides/notesSlide2.xml" Id="R70b6735ff7f047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91287a24c4a00" /><Relationship Type="http://schemas.openxmlformats.org/officeDocument/2006/relationships/notesSlide" Target="/ppt/notesSlides/notesSlide3.xml" Id="Rf92740e5c0294e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51c290b8f48e8" /><Relationship Type="http://schemas.openxmlformats.org/officeDocument/2006/relationships/notesSlide" Target="/ppt/notesSlides/notesSlide4.xml" Id="R8d4376f9a55745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a0f1e118b47f3" /><Relationship Type="http://schemas.openxmlformats.org/officeDocument/2006/relationships/image" Target="/ppt/media/image.jpeg" Id="R8767e68bdad84311" /><Relationship Type="http://schemas.openxmlformats.org/officeDocument/2006/relationships/notesSlide" Target="/ppt/notesSlides/notesSlide5.xml" Id="R9fb31506d3b64f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5073739d04b8e" /><Relationship Type="http://schemas.openxmlformats.org/officeDocument/2006/relationships/image" Target="/ppt/media/image2.jpeg" Id="R225a872effb34a38" /><Relationship Type="http://schemas.openxmlformats.org/officeDocument/2006/relationships/image" Target="/ppt/media/image3.jpeg" Id="R1a5c0cad0702451f" /><Relationship Type="http://schemas.openxmlformats.org/officeDocument/2006/relationships/notesSlide" Target="/ppt/notesSlides/notesSlide6.xml" Id="R13197dfe2afa48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37dd318414231" /><Relationship Type="http://schemas.openxmlformats.org/officeDocument/2006/relationships/notesSlide" Target="/ppt/notesSlides/notesSlide7.xml" Id="R8f20fe9f079249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e9bdeb9b54d89" /><Relationship Type="http://schemas.openxmlformats.org/officeDocument/2006/relationships/notesSlide" Target="/ppt/notesSlides/notesSlide8.xml" Id="Rc09416d244d94e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d3f6b14b241d0" /><Relationship Type="http://schemas.openxmlformats.org/officeDocument/2006/relationships/notesSlide" Target="/ppt/notesSlides/notesSlide9.xml" Id="R5064d34b49fe4d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f927f10564b72" /><Relationship Type="http://schemas.openxmlformats.org/officeDocument/2006/relationships/notesSlide" Target="/ppt/notesSlides/notesSlide10.xml" Id="Ra5013720959d4c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F0ED84D1-B0F4-460C-8597-3387FC48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76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766E"/>
                </a:solidFill>
                <a:latin typeface="Arial"/>
                <a:ea typeface="Arial"/>
                <a:cs typeface="Arial"/>
              </a:rPr>
              <a:t>TFM · INTELIGENCIA APLICADA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8BC3250-3004-4BB5-8C62-D7CD333B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723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Sindicato</a:t>
            </a:r>
          </a:p>
          <a:p xmlns:a="http://schemas.openxmlformats.org/drawingml/2006/main">
            <a:pPr algn="l">
              <a:defRPr sz="5850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Intelligence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9F7F91D-B30E-4F29-874C-0D2CA4EA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La noticia es materia prima.</a:t>
            </a:r>
          </a:p>
          <a:p xmlns:a="http://schemas.openxmlformats.org/drawingml/2006/main">
            <a:pPr algn="l">
              <a:defRPr sz="2175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El evento es la unidad de decisión.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30895-0599-4B2B-855C-98A65778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0"/>
            <a:ext cx="3390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F9E62-6F53-4751-A635-2BEB9DA7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3335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event">
            <a:extLst xmlns:a="http://schemas.openxmlformats.org/drawingml/2006/main">
              <a:ext uri="{FF2B5EF4-FFF2-40B4-BE49-F238E27FC236}">
                <a16:creationId xmlns:a16="http://schemas.microsoft.com/office/drawing/2014/main" id="{3B3AA390-7D93-4C43-853E-1A575DF5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8595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766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766E"/>
                </a:solidFill>
                <a:latin typeface="Arial"/>
                <a:ea typeface="Arial"/>
                <a:cs typeface="Arial"/>
              </a:rPr>
              <a:t>EVENT</a:t>
            </a:r>
          </a:p>
        </p:txBody>
      </p:sp>
      <p:sp>
        <p:nvSpPr>
          <p:cNvPr id="7" name="cover-flow">
            <a:extLst xmlns:a="http://schemas.openxmlformats.org/drawingml/2006/main">
              <a:ext uri="{FF2B5EF4-FFF2-40B4-BE49-F238E27FC236}">
                <a16:creationId xmlns:a16="http://schemas.microsoft.com/office/drawing/2014/main" id="{30F0B28D-446D-4A0D-849F-2BB9985B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1809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News</a:t>
            </a:r>
          </a:p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Analysis</a:t>
            </a:r>
          </a:p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Content</a:t>
            </a:r>
          </a:p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Publication</a:t>
            </a:r>
          </a:p>
        </p:txBody>
      </p:sp>
    </p:spTree>
    <p:extLst>
      <p:ext uri="{BB962C8B-B14F-4D97-AF65-F5344CB8AC3E}">
        <p14:creationId xmlns:p14="http://schemas.microsoft.com/office/powerpoint/2010/main" val="17057401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2">
            <a:extLst xmlns:a="http://schemas.openxmlformats.org/drawingml/2006/main">
              <a:ext uri="{FF2B5EF4-FFF2-40B4-BE49-F238E27FC236}">
                <a16:creationId xmlns:a16="http://schemas.microsoft.com/office/drawing/2014/main" id="{C61DA379-5E17-41EF-8EF9-1005FC40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6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66E"/>
                </a:solidFill>
                <a:latin typeface="Arial"/>
                <a:ea typeface="Arial"/>
                <a:cs typeface="Arial"/>
              </a:rPr>
              <a:t>EL PROBLEMA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2367FDC-0987-4025-98BA-1770C476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Muchos medios pueden contar un solo hecho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CFB90-3034-4ADD-962D-185B6FE4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B7A94-26C4-4C03-AA78-B9CA7087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Seguimiento manual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81F92-A8F5-4635-AA69-A9B09CF4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4191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Revisar RSS, detectar duplicados, clasificar y redactar consume tiempo y fragmenta la visión del asunto.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146D0-6FAA-4BE1-8A76-ACBF01DA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La consecuencia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971765-2685-4906-AB1C-FC6856DB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6850"/>
            <a:ext cx="4429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5 noticias similares pueden acabar en 5 decisiones y 5 publicaciones.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510DA-011F-40D7-8ADC-99634CD8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62275"/>
            <a:ext cx="9144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A54DF-D83B-4980-ADF0-2B3A5E61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62275"/>
            <a:ext cx="8763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AE2C9-5B61-46F1-8A35-ACB6D7F2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002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1B982-9F03-48F5-B9A9-4612089A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0502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Medio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1A19B-ADC2-42F0-8F07-53C6B6C2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66700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D8A7EC-1CCF-4A1F-9E65-2E9F3E80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7177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Medio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558CD-B44B-4D9E-8955-CAD131D9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337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29483-F2FC-4B6F-A649-DFDBA158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3852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Medio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3F77C4-B2F9-414F-B458-729D7793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B645B0-1C73-4685-A3E1-8AD733EA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0527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Medio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00002-56FA-44BC-A5D2-1F999C9B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6672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C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14C5B-3077-4B34-A4EF-8FF108A0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72025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Medio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40D588-E20A-424A-B7AE-4D2C8FC6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76500"/>
            <a:ext cx="1905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7E1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031B8C-4DFA-4333-AEC0-32F2D770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38450"/>
            <a:ext cx="1485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Duplicados</a:t>
            </a:r>
          </a:p>
          <a:p xmlns:a="http://schemas.openxmlformats.org/drawingml/2006/main">
            <a:pPr algn="ctr">
              <a:defRPr sz="1725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+ contexto disperso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D6B53D-F91D-4753-A0EA-AC33C8C4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428875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9EA1D0-EDE8-4423-B4B2-3DF7DF1B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24150"/>
            <a:ext cx="1104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D766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766E"/>
                </a:solidFill>
                <a:latin typeface="Arial"/>
                <a:ea typeface="Arial"/>
                <a:cs typeface="Arial"/>
              </a:rPr>
              <a:t>1</a:t>
            </a:r>
          </a:p>
          <a:p xmlns:a="http://schemas.openxmlformats.org/drawingml/2006/main">
            <a:pPr algn="ctr">
              <a:defRPr sz="2025" b="1">
                <a:solidFill>
                  <a:srgbClr val="0D766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766E"/>
                </a:solidFill>
                <a:latin typeface="Arial"/>
                <a:ea typeface="Arial"/>
                <a:cs typeface="Arial"/>
              </a:rPr>
              <a:t>EVENTO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7C41FD-6642-4F7E-A108-40F0EF5D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720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469"/>
          </a:bodyPr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0D766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D766E"/>
                </a:solidFill>
                <a:latin typeface="Arial"/>
                <a:ea typeface="Arial"/>
                <a:cs typeface="Arial"/>
              </a:rPr>
              <a:t>La plataforma consolida antes de decidir.</a:t>
            </a:r>
          </a:p>
        </p:txBody>
      </p:sp>
      <p:sp>
        <p:nvSpPr>
          <p:cNvPr id="25" name="footer-2">
            <a:extLst xmlns:a="http://schemas.openxmlformats.org/drawingml/2006/main">
              <a:ext uri="{FF2B5EF4-FFF2-40B4-BE49-F238E27FC236}">
                <a16:creationId xmlns:a16="http://schemas.microsoft.com/office/drawing/2014/main" id="{872562BD-BE60-4DB2-9718-DE319527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160741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3">
            <a:extLst xmlns:a="http://schemas.openxmlformats.org/drawingml/2006/main">
              <a:ext uri="{FF2B5EF4-FFF2-40B4-BE49-F238E27FC236}">
                <a16:creationId xmlns:a16="http://schemas.microsoft.com/office/drawing/2014/main" id="{8E206158-0966-44CB-9F4E-A40D4A22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6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66E"/>
                </a:solidFill>
                <a:latin typeface="Arial"/>
                <a:ea typeface="Arial"/>
                <a:cs typeface="Arial"/>
              </a:rPr>
              <a:t>ARQUITECTURA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9EC8BCA-16AA-4B19-93E7-20319D38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971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Spring Boot concentra el dominio y limita cada integración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DAFC5-6E6D-45F3-B033-4D01EC7E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C1E45-A6FC-45D2-AB1C-6E90D610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5755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37275-06B2-4F4B-9B2B-23A010E3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6667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E0E9F-E0DD-4007-BCC0-AEF82401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2038350" cy="25717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4397F2-83F1-4E23-A2EF-E5078F02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39BC84-6E13-4627-BE6B-1F62595C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1619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Fuentes RSS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n8n · WF-01</a:t>
            </a:r>
          </a:p>
          <a:p xmlns:a="http://schemas.openxmlformats.org/drawingml/2006/main">
            <a:pPr algn="ctr">
              <a:defRPr sz="1650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Captura XML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POST /news/bulk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7D1D2-2831-4E41-B4F8-B682E310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85950"/>
            <a:ext cx="53149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F774BA-B3C2-4B8A-8F8F-96CDF52A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52650"/>
            <a:ext cx="462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F0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F0EB"/>
                </a:solidFill>
                <a:latin typeface="Arial"/>
                <a:ea typeface="Arial"/>
                <a:cs typeface="Arial"/>
              </a:rPr>
              <a:t>SPRING BOOT · MONOLITO MODULAR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5AB59-27FC-4946-9A74-EEF5BA8C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09850"/>
            <a:ext cx="455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domain  ·  application  ·  infrastructure  · 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01635-B590-4BF2-BF72-2ED3C77B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24200"/>
            <a:ext cx="4362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864A6-E383-44CD-931C-03731BFF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71850"/>
            <a:ext cx="4210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Reglas de negocio</a:t>
            </a:r>
          </a:p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Casos de uso</a:t>
            </a:r>
          </a:p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JWT y roles</a:t>
            </a:r>
          </a:p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IA y validación</a:t>
            </a:r>
          </a:p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Automatizaciones</a:t>
            </a:r>
          </a:p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Telegram y auditoría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A1130-DB93-4ABC-90E4-D03BE5D0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33600"/>
            <a:ext cx="2400300" cy="25717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2E035-8903-4A72-8A90-65D2C595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81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D766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D766E"/>
                </a:solidFill>
                <a:latin typeface="Arial"/>
                <a:ea typeface="Arial"/>
                <a:cs typeface="Arial"/>
              </a:rPr>
              <a:t>SALIDAS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A8268-5AF7-494C-9A8E-C7E374D7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76550"/>
            <a:ext cx="18669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Angular</a:t>
            </a:r>
          </a:p>
          <a:p xmlns:a="http://schemas.openxmlformats.org/drawingml/2006/main">
            <a:pPr algn="ctr">
              <a:defRPr sz="1650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650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Gemini opcional</a:t>
            </a:r>
          </a:p>
          <a:p xmlns:a="http://schemas.openxmlformats.org/drawingml/2006/main">
            <a:pPr algn="ctr">
              <a:defRPr sz="1650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Telegram</a:t>
            </a:r>
          </a:p>
          <a:p xmlns:a="http://schemas.openxmlformats.org/drawingml/2006/main">
            <a:pPr algn="ctr">
              <a:defRPr sz="1650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MailHog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FA576-F89A-45D0-8F31-DCCA4079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467350"/>
            <a:ext cx="531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D766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D766E"/>
                </a:solidFill>
                <a:latin typeface="Arial"/>
                <a:ea typeface="Arial"/>
                <a:cs typeface="Arial"/>
              </a:rPr>
              <a:t>DDD · Clean Architecture · PostgreSQL + Flyway</a:t>
            </a:r>
          </a:p>
        </p:txBody>
      </p:sp>
      <p:sp>
        <p:nvSpPr>
          <p:cNvPr id="18" name="footer-3">
            <a:extLst xmlns:a="http://schemas.openxmlformats.org/drawingml/2006/main">
              <a:ext uri="{FF2B5EF4-FFF2-40B4-BE49-F238E27FC236}">
                <a16:creationId xmlns:a16="http://schemas.microsoft.com/office/drawing/2014/main" id="{B36D3FAE-C804-4C98-A0A8-EC4E09B8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5070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4">
            <a:extLst xmlns:a="http://schemas.openxmlformats.org/drawingml/2006/main">
              <a:ext uri="{FF2B5EF4-FFF2-40B4-BE49-F238E27FC236}">
                <a16:creationId xmlns:a16="http://schemas.microsoft.com/office/drawing/2014/main" id="{745B5817-742F-4E48-896E-F23A227B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6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66E"/>
                </a:solidFill>
                <a:latin typeface="Arial"/>
                <a:ea typeface="Arial"/>
                <a:cs typeface="Arial"/>
              </a:rPr>
              <a:t>MODELO DE DOMINIO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3A890180-F9A8-48DA-849C-94B39D9E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El flujo transforma noticias en decisiones publicables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2485D-6642-4930-87AC-0DEA6C7F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14768-E92D-42BC-A8FB-CE5A2D3F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105150"/>
            <a:ext cx="4953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FBC7C-3FE9-4995-B4D2-98FEE86F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7D0C4-D0BB-4767-BE62-EA363532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05150"/>
            <a:ext cx="476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1DC9D-3046-4DAE-BDA7-6B008B4C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05150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06A00-285E-411D-9200-67E603A8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428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C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52791C-BA5D-46BA-9868-0B4584D5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200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NEWS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997C2-03F1-4163-B09C-06ADAF3E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9600"/>
            <a:ext cx="158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Materia prima</a:t>
            </a:r>
          </a:p>
          <a:p xmlns:a="http://schemas.openxmlformats.org/drawingml/2006/main">
            <a:pPr algn="ctr">
              <a:defRPr sz="1350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capturada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C687E-8973-4D98-9A44-A649E1BF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81250"/>
            <a:ext cx="16573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6B4C8-66FC-47E8-AEC4-DF7C992A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956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A8607-0E92-4CC2-8E79-AF26C18E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196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Hecho consolidado</a:t>
            </a:r>
          </a:p>
          <a:p xmlns:a="http://schemas.openxmlformats.org/drawingml/2006/main">
            <a:pPr algn="ctr">
              <a:defRPr sz="1350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aggregate root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700A04-6102-45DB-8C61-70F859AE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71750"/>
            <a:ext cx="1714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C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5AC017-BA21-40D5-B2DE-A13E9D75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146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8AFA8-71C8-460F-AF90-2C0287B1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19600"/>
            <a:ext cx="186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Lectura IA</a:t>
            </a:r>
          </a:p>
          <a:p xmlns:a="http://schemas.openxmlformats.org/drawingml/2006/main">
            <a:pPr algn="ctr">
              <a:defRPr sz="1350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con contexto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5262D-425A-43F4-9D24-5C3CAA27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71750"/>
            <a:ext cx="1714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C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3FBA9-4072-4F21-A95C-1A774EF6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14650"/>
            <a:ext cx="1485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CONTENT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1C4772-D528-440B-98CF-7A41FD9C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19600"/>
            <a:ext cx="1866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Borrador sujeto</a:t>
            </a:r>
          </a:p>
          <a:p xmlns:a="http://schemas.openxmlformats.org/drawingml/2006/main">
            <a:pPr algn="ctr">
              <a:defRPr sz="1350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a revisión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25F89A-B695-4AAE-9F80-48973DB5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90750"/>
            <a:ext cx="2076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2C5FE0-071D-4374-B27F-226367D7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71750"/>
            <a:ext cx="18478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C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2564EE-72BF-4424-A6ED-BA972C5A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146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PUBLICATION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6402E8-8735-4368-A28C-A0EE7DF3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196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Envío aprobado</a:t>
            </a:r>
          </a:p>
          <a:p xmlns:a="http://schemas.openxmlformats.org/drawingml/2006/main">
            <a:pPr algn="ctr">
              <a:defRPr sz="1350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y trazable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A220E9-55A1-4883-93D4-9325C3D7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816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D766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D766E"/>
                </a:solidFill>
                <a:latin typeface="Arial"/>
                <a:ea typeface="Arial"/>
                <a:cs typeface="Arial"/>
              </a:rPr>
              <a:t>La IA propone. El dominio valida. Una persona aprueba.</a:t>
            </a:r>
          </a:p>
        </p:txBody>
      </p:sp>
      <p:sp>
        <p:nvSpPr>
          <p:cNvPr id="25" name="footer-4">
            <a:extLst xmlns:a="http://schemas.openxmlformats.org/drawingml/2006/main">
              <a:ext uri="{FF2B5EF4-FFF2-40B4-BE49-F238E27FC236}">
                <a16:creationId xmlns:a16="http://schemas.microsoft.com/office/drawing/2014/main" id="{068ACAC8-0906-4A49-9155-8BF757BA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582888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5">
            <a:extLst xmlns:a="http://schemas.openxmlformats.org/drawingml/2006/main">
              <a:ext uri="{FF2B5EF4-FFF2-40B4-BE49-F238E27FC236}">
                <a16:creationId xmlns:a16="http://schemas.microsoft.com/office/drawing/2014/main" id="{FBB0CB79-0826-4C0E-95DD-8A57CEAC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6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66E"/>
                </a:solidFill>
                <a:latin typeface="Arial"/>
                <a:ea typeface="Arial"/>
                <a:cs typeface="Arial"/>
              </a:rPr>
              <a:t>PRODUCTO OPERATIVO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777B076-AEA8-4039-A259-EDB04A96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El dashboard convierte datos dispersos en prioridades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4C66B-D77E-4F69-8916-9B875614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C2A65-9BD8-4454-B7F9-97A38C1D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3638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98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Una lectura rápida para decidir qué necesita atención hoy.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593C6-5B92-4F2D-BFDD-982CBF98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• métricas del día</a:t>
            </a:r>
          </a:p>
          <a:p xmlns:a="http://schemas.openxmlformats.org/drawingml/2006/main">
            <a:pPr algn="l">
              <a:defRPr sz="1725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• avisos editoriales</a:t>
            </a:r>
          </a:p>
          <a:p xmlns:a="http://schemas.openxmlformats.org/drawingml/2006/main">
            <a:pPr algn="l">
              <a:defRPr sz="1725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• eventos críticos</a:t>
            </a:r>
          </a:p>
          <a:p xmlns:a="http://schemas.openxmlformats.org/drawingml/2006/main">
            <a:pPr algn="l">
              <a:defRPr sz="1725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• automatizaciones manuales</a:t>
            </a:r>
          </a:p>
          <a:p xmlns:a="http://schemas.openxmlformats.org/drawingml/2006/main">
            <a:pPr algn="l">
              <a:defRPr sz="1725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• acceso por 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F2B80-52FA-49AC-8D56-F15B6FAC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D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D766E"/>
                </a:solidFill>
                <a:latin typeface="Arial"/>
                <a:ea typeface="Arial"/>
                <a:cs typeface="Arial"/>
              </a:rPr>
              <a:t>La UI no decide: expone contexto y acciones de dominio.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07F92-5ADA-4C6B-8A36-8DEF0904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73723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9525">
            <a:solidFill>
              <a:srgbClr val="0B1323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7e68bdad84311"/>
          <a:srcRect xmlns:a="http://schemas.openxmlformats.org/drawingml/2006/main" l="0" t="75" r="0" b="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8650" y="1885950"/>
            <a:ext cx="7219950" cy="4057650"/>
          </a:xfrm>
          <a:prstGeom xmlns:a="http://schemas.openxmlformats.org/drawingml/2006/main" prst="roundRect">
            <a:avLst>
              <a:gd name="adj" fmla="val 2817"/>
            </a:avLst>
          </a:prstGeom>
        </p:spPr>
      </p:pic>
      <p:sp>
        <p:nvSpPr>
          <p:cNvPr id="9" name="footer-5">
            <a:extLst xmlns:a="http://schemas.openxmlformats.org/drawingml/2006/main">
              <a:ext uri="{FF2B5EF4-FFF2-40B4-BE49-F238E27FC236}">
                <a16:creationId xmlns:a16="http://schemas.microsoft.com/office/drawing/2014/main" id="{37C4EAFB-280D-46E5-98D5-D9346DA9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373633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6">
            <a:extLst xmlns:a="http://schemas.openxmlformats.org/drawingml/2006/main">
              <a:ext uri="{FF2B5EF4-FFF2-40B4-BE49-F238E27FC236}">
                <a16:creationId xmlns:a16="http://schemas.microsoft.com/office/drawing/2014/main" id="{07626C83-3ED3-4943-9D07-71C79B3C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6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66E"/>
                </a:solidFill>
                <a:latin typeface="Arial"/>
                <a:ea typeface="Arial"/>
                <a:cs typeface="Arial"/>
              </a:rPr>
              <a:t>BACKOFFICE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DE4F6E2-8B04-4D72-A86F-9A1B93AF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Eventos y configuración cubren decisión y operación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636C9-9913-450F-B480-CDD35B9E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5CDFF-8EF6-4559-B79D-0AC7C460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550545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9525">
            <a:solidFill>
              <a:srgbClr val="0B1323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5a872effb34a38"/>
          <a:srcRect xmlns:a="http://schemas.openxmlformats.org/drawingml/2006/main" l="0" t="50" r="0" b="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943100"/>
            <a:ext cx="5353050" cy="3009900"/>
          </a:xfrm>
          <a:prstGeom xmlns:a="http://schemas.openxmlformats.org/drawingml/2006/main" prst="roundRect">
            <a:avLst>
              <a:gd name="adj" fmla="val 379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97D51-C34E-4249-897E-F99D292B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66900"/>
            <a:ext cx="5505450" cy="3162300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9525">
            <a:solidFill>
              <a:srgbClr val="0B1323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c0cad0702451f"/>
          <a:srcRect xmlns:a="http://schemas.openxmlformats.org/drawingml/2006/main" l="0" t="50" r="0" b="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1943100"/>
            <a:ext cx="5353050" cy="3009900"/>
          </a:xfrm>
          <a:prstGeom xmlns:a="http://schemas.openxmlformats.org/drawingml/2006/main" prst="roundRect">
            <a:avLst>
              <a:gd name="adj" fmla="val 379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86432-DF99-4562-8ACA-3C11BD7B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766E"/>
                </a:solidFill>
                <a:latin typeface="Arial"/>
                <a:ea typeface="Arial"/>
                <a:cs typeface="Arial"/>
              </a:rPr>
              <a:t>EVENTOS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D1F6A-585B-4068-9FDE-CE31BBE3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Filtros, impacto, noticias vinculadas y estado editorial.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072C1-2C81-43E5-A8C3-5DCE6DAE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19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SETTINGS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EABACA-99AD-4126-BCDA-EB62238C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562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Métricas IA, prompts, automatizaciones y Telegram.</a:t>
            </a:r>
          </a:p>
        </p:txBody>
      </p:sp>
      <p:sp>
        <p:nvSpPr>
          <p:cNvPr id="12" name="footer-6">
            <a:extLst xmlns:a="http://schemas.openxmlformats.org/drawingml/2006/main">
              <a:ext uri="{FF2B5EF4-FFF2-40B4-BE49-F238E27FC236}">
                <a16:creationId xmlns:a16="http://schemas.microsoft.com/office/drawing/2014/main" id="{3A3B4AC9-6213-41D7-8E73-D0913ACA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026389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7">
            <a:extLst xmlns:a="http://schemas.openxmlformats.org/drawingml/2006/main">
              <a:ext uri="{FF2B5EF4-FFF2-40B4-BE49-F238E27FC236}">
                <a16:creationId xmlns:a16="http://schemas.microsoft.com/office/drawing/2014/main" id="{7227F1DC-F462-4F30-A080-0E926B55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6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66E"/>
                </a:solidFill>
                <a:latin typeface="Arial"/>
                <a:ea typeface="Arial"/>
                <a:cs typeface="Arial"/>
              </a:rPr>
              <a:t>AUTOMATIZACIÓN E IA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6590DFC9-6B84-4ADD-BE6B-8480D934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La IA acelera el flujo sin sustituir la revisión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6422A-A8D5-4640-8FE3-AD6094FD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762000" y="5467350"/>
            <a:ext cx="10458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4EC655-EEE5-4C3A-B494-CB00B83D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238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8EB25-9234-40C8-9DD0-7C1B365F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 · CAPTURA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517F3-45DD-4931-BF96-C6947847F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27051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n8n · WF-01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RSS/XML</a:t>
            </a:r>
          </a:p>
          <a:p xmlns:a="http://schemas.openxmlformats.org/drawingml/2006/main">
            <a:pPr algn="l">
              <a:defRPr sz="1725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Normalización</a:t>
            </a:r>
          </a:p>
          <a:p xmlns:a="http://schemas.openxmlformats.org/drawingml/2006/main">
            <a:pPr algn="l">
              <a:defRPr sz="1725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Alta masiva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B449F-5BF3-481D-A6FC-5003741B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F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E29FD-86AB-4F6F-A72D-D789E455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673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Entrada externa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27D50-BD66-4CC6-BF0C-DC5825B5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52625"/>
            <a:ext cx="3238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CEF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29D19-1DF7-4614-83AE-40B95B49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4790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02 · INTELIGENCIA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12560-A5CB-485B-8A3E-C6CD6741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19400"/>
            <a:ext cx="27051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Spring · WF-02 a WF-04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Clasificar</a:t>
            </a:r>
          </a:p>
          <a:p xmlns:a="http://schemas.openxmlformats.org/drawingml/2006/main">
            <a:pPr algn="l">
              <a:defRPr sz="1725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Agrupar eventos</a:t>
            </a:r>
          </a:p>
          <a:p xmlns:a="http://schemas.openxmlformats.org/drawingml/2006/main">
            <a:pPr algn="l">
              <a:defRPr sz="1725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Analizar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524A1-FB95-4C88-B151-7D04ED2D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381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F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D65D1-D8BB-4292-B987-2DE06229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2673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Reglas + validación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536707-1422-4C69-A19C-1AD2BCEE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238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D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5BD1A-8741-42ED-BAA2-01C5BC67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4790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766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766E"/>
                </a:solidFill>
                <a:latin typeface="Arial"/>
                <a:ea typeface="Arial"/>
                <a:cs typeface="Arial"/>
              </a:rPr>
              <a:t>03 · DECISIÓN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19F0D4-6C77-48C5-8073-F15E6999F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19400"/>
            <a:ext cx="27051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Spring · WF-05/06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Generar</a:t>
            </a:r>
          </a:p>
          <a:p xmlns:a="http://schemas.openxmlformats.org/drawingml/2006/main">
            <a:pPr algn="l">
              <a:defRPr sz="1725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Revisar y aprobar</a:t>
            </a:r>
          </a:p>
          <a:p xmlns:a="http://schemas.openxmlformats.org/drawingml/2006/main">
            <a:pPr algn="l">
              <a:defRPr sz="1725" b="0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A0F18"/>
                </a:solidFill>
                <a:latin typeface="Arial"/>
                <a:ea typeface="Arial"/>
                <a:cs typeface="Arial"/>
              </a:rPr>
              <a:t>Publicar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1361E-2700-4054-B442-FFCCB5A4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81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F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F645E7-0669-4B2E-9E5C-6AF84ECD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673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Control humano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297D8-1724-4727-8DE9-5997BD84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000750"/>
            <a:ext cx="845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Prompts versionados · respuesta JSON validada · métricas por operación</a:t>
            </a:r>
          </a:p>
        </p:txBody>
      </p:sp>
      <p:sp>
        <p:nvSpPr>
          <p:cNvPr id="21" name="footer-7">
            <a:extLst xmlns:a="http://schemas.openxmlformats.org/drawingml/2006/main">
              <a:ext uri="{FF2B5EF4-FFF2-40B4-BE49-F238E27FC236}">
                <a16:creationId xmlns:a16="http://schemas.microsoft.com/office/drawing/2014/main" id="{7F66F11D-1B61-45D1-A40D-4D8712BE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905992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3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483E3A-1CFC-4BD1-B496-2EBFDE75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F0E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F0EB"/>
                </a:solidFill>
                <a:latin typeface="Arial"/>
                <a:ea typeface="Arial"/>
                <a:cs typeface="Arial"/>
              </a:rPr>
              <a:t>SEGURIDAD Y GOBIERNO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48538-1AD7-4246-829B-EA6E082B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Automatizar no significa perder el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EB50C-EFF1-45A4-8708-E97C1DCC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0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EBEFE7-2C95-4BD5-AAAE-05F9716D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145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F0E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F0EB"/>
                </a:solidFill>
                <a:latin typeface="Arial"/>
                <a:ea typeface="Arial"/>
                <a:cs typeface="Arial"/>
              </a:rPr>
              <a:t>CONTROLES TÉCNICOS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F0807-A144-45F6-B162-035ED204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42862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JWT de 15 min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Refresh de 7 días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Roles ADMIN / EDITOR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Rate limiting de autenticación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Secretos fuera de Git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Auditoría de acciones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F5160-F74E-4797-9F46-3A067F05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38350"/>
            <a:ext cx="601980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15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20C08-011C-48E3-8F0F-5BC1F322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81250"/>
            <a:ext cx="525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E1D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E1D7"/>
                </a:solidFill>
                <a:latin typeface="Arial"/>
                <a:ea typeface="Arial"/>
                <a:cs typeface="Arial"/>
              </a:rPr>
              <a:t>REGLA EDITORIAL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60592-088B-45D7-AD7B-D6A06712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16634-E223-4789-80F6-3D9E46BA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099F7-078E-40A9-8C64-79CB4278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670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AD491-D76C-4E9F-AFC4-E9B527EC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43250"/>
            <a:ext cx="6667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D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BAE22-5635-4927-953D-34A20864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52750"/>
            <a:ext cx="1447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25E0C-A134-4250-8091-12C297CB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33725"/>
            <a:ext cx="1219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253D02-7EA8-48F1-9C57-D500E4FC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38600"/>
            <a:ext cx="4210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F0E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F0EB"/>
                </a:solidFill>
                <a:latin typeface="Arial"/>
                <a:ea typeface="Arial"/>
                <a:cs typeface="Arial"/>
              </a:rPr>
              <a:t>Solo después puede publicarse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5FEE2-6F8B-419D-A59C-1456C561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43450"/>
            <a:ext cx="451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 IA nunca aprueba ni publica por sí sola.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BC667-A3CF-41D6-8C48-AC0749B6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8C0C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8C0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336340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9">
            <a:extLst xmlns:a="http://schemas.openxmlformats.org/drawingml/2006/main">
              <a:ext uri="{FF2B5EF4-FFF2-40B4-BE49-F238E27FC236}">
                <a16:creationId xmlns:a16="http://schemas.microsoft.com/office/drawing/2014/main" id="{D1E70C76-236A-47AD-9B22-EFC7BDA4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766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D766E"/>
                </a:solidFill>
                <a:latin typeface="Arial"/>
                <a:ea typeface="Arial"/>
                <a:cs typeface="Arial"/>
              </a:rPr>
              <a:t>CALIDAD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2D251A08-0CBE-4E0A-BFFB-3118977E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La entrega se apoya en evidencia reproducible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F04B4F-1557-4308-807B-3109C2FA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981F9-F8B0-4C7D-BAE9-B25CF952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Baterías automatizadas + build + validadores + Docker.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E8247-3DC1-4F65-82D6-CE78C123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32385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D9F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38DEE-0E3E-40DE-AD29-30094C4D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2705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D766E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D766E"/>
                </a:solidFill>
                <a:latin typeface="Arial"/>
                <a:ea typeface="Arial"/>
                <a:cs typeface="Arial"/>
              </a:rPr>
              <a:t>347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4497E-9458-46B8-8527-A4F26936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pruebas 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F12E6-1086-429F-8F3D-22990761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57450"/>
            <a:ext cx="32385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E34F4-C8E2-48C0-8F3F-CEDF0458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781300"/>
            <a:ext cx="2705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163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7BF59-565F-4D6D-BB0B-46A2567B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8862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pruebas 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F14E1-42A5-4265-A137-2D5A2F00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32385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7E1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66064-4BE7-4363-9936-6B561EF3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81300"/>
            <a:ext cx="2705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C65D32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C65D3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FFAF34-DDF9-4336-ACE7-FF0DC3B2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pruebas E2E mock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7EDF5-71BF-47DE-A5BB-A6338180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80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805C"/>
                </a:solidFill>
                <a:latin typeface="Arial"/>
                <a:ea typeface="Arial"/>
                <a:cs typeface="Arial"/>
              </a:rPr>
              <a:t>✓ Angular production build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C0155C-517E-4301-9ECF-C9D84AB0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2197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80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805C"/>
                </a:solidFill>
                <a:latin typeface="Arial"/>
                <a:ea typeface="Arial"/>
                <a:cs typeface="Arial"/>
              </a:rPr>
              <a:t>✓ 0 vulnerabilidades de producción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B8C83-F13F-47B2-88B8-CA931EB5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1970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80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805C"/>
                </a:solidFill>
                <a:latin typeface="Arial"/>
                <a:ea typeface="Arial"/>
                <a:cs typeface="Arial"/>
              </a:rPr>
              <a:t>✓ Compose, PowerShell y WF-01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EF868A-15B1-49BB-B7DE-3F5ACA1D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B9B13-F967-4406-AB5E-BC50C311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48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76071"/>
                </a:solidFill>
                <a:latin typeface="Arial"/>
                <a:ea typeface="Arial"/>
                <a:cs typeface="Arial"/>
              </a:rPr>
              <a:t>Ejecución de evaluación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ACCD2-9624-4248-A7CC-3D8BE494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7217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.\tfm-start.ps1   →   .\tfm-check.ps1</a:t>
            </a:r>
          </a:p>
        </p:txBody>
      </p:sp>
      <p:sp>
        <p:nvSpPr>
          <p:cNvPr id="20" name="footer-9">
            <a:extLst xmlns:a="http://schemas.openxmlformats.org/drawingml/2006/main">
              <a:ext uri="{FF2B5EF4-FFF2-40B4-BE49-F238E27FC236}">
                <a16:creationId xmlns:a16="http://schemas.microsoft.com/office/drawing/2014/main" id="{ED2D5424-4682-4888-B811-42249626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9127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504650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FC205-8F1C-4DFC-AD92-394D3E73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D766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766E"/>
                </a:solidFill>
                <a:latin typeface="Arial"/>
                <a:ea typeface="Arial"/>
                <a:cs typeface="Arial"/>
              </a:rPr>
              <a:t>CONCLUSIÓN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C66D6BA8-9F24-4489-98D1-E4ECEBAA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Automatizar lo repetitivo.</a:t>
            </a:r>
          </a:p>
          <a:p xmlns:a="http://schemas.openxmlformats.org/drawingml/2006/main">
            <a:pPr algn="l">
              <a:defRPr sz="4950" b="1">
                <a:solidFill>
                  <a:srgbClr val="0A0F18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A0F18"/>
                </a:solidFill>
                <a:latin typeface="Arial"/>
                <a:ea typeface="Arial"/>
                <a:cs typeface="Arial"/>
              </a:rPr>
              <a:t>Mantener humana la decisión.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48DD0-C6E9-47BB-9879-10C98101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0"/>
            <a:ext cx="685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50A0D-B86C-48A8-B63A-134117D9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7607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76071"/>
                </a:solidFill>
                <a:latin typeface="Arial"/>
                <a:ea typeface="Arial"/>
                <a:cs typeface="Arial"/>
              </a:rPr>
              <a:t>Sindicato Intelligence convierte noticias dispersas en eventos trazables, análisis consolidados y contenido listo para revisión.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04652-2B41-4100-A765-A125BD10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43400"/>
            <a:ext cx="27051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BF6797-C01D-46BE-B473-3C637CBB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29150"/>
            <a:ext cx="2171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7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MVP ejecutable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Docker · API · Backoffice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IA · Telegram · Auditoría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CD2C4-A84C-4950-A7BA-E08FC869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34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D766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D766E"/>
                </a:solidFill>
                <a:latin typeface="Arial"/>
                <a:ea typeface="Arial"/>
                <a:cs typeface="Arial"/>
              </a:rPr>
              <a:t>github.com/titiantonio/sindicato-intelligence</a:t>
            </a:r>
          </a:p>
        </p:txBody>
      </p:sp>
    </p:spTree>
    <p:extLst>
      <p:ext uri="{BB962C8B-B14F-4D97-AF65-F5344CB8AC3E}">
        <p14:creationId xmlns:p14="http://schemas.microsoft.com/office/powerpoint/2010/main" val="580733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2026-07-26T11:43:32.9610000Z</dcterms:created>
  <dcterms:modified xsi:type="dcterms:W3CDTF">2026-07-26T11:43:32.9610000Z</dcterms:modified>
</coreProperties>
</file>