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6d27f5111b4124" /><Relationship Type="http://schemas.openxmlformats.org/officeDocument/2006/relationships/extended-properties" Target="/docProps/app.xml" Id="Rd0474162b0454cd8" /><Relationship Type="http://schemas.openxmlformats.org/officeDocument/2006/relationships/officeDocument" Target="/ppt/presentation.xml" Id="R157ef5ec63f349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b27f0d672842a8"/>
  </p:sldMasterIdLst>
  <p:notesMasterIdLst>
    <p:notesMasterId xmlns:r="http://schemas.openxmlformats.org/officeDocument/2006/relationships" r:id="R7bc146e6e1274dd1"/>
  </p:notesMasterIdLst>
  <p:sldIdLst>
    <p:sldId xmlns:r="http://schemas.openxmlformats.org/officeDocument/2006/relationships" id="256" r:id="Rfb1c1f84feed4f2b"/>
    <p:sldId xmlns:r="http://schemas.openxmlformats.org/officeDocument/2006/relationships" id="257" r:id="Rf00816f85e57410c"/>
    <p:sldId xmlns:r="http://schemas.openxmlformats.org/officeDocument/2006/relationships" id="258" r:id="Rc39af68f9fc64512"/>
    <p:sldId xmlns:r="http://schemas.openxmlformats.org/officeDocument/2006/relationships" id="259" r:id="R2f9d28b80e5b4625"/>
    <p:sldId xmlns:r="http://schemas.openxmlformats.org/officeDocument/2006/relationships" id="260" r:id="Ra15bf809ba5442ac"/>
    <p:sldId xmlns:r="http://schemas.openxmlformats.org/officeDocument/2006/relationships" id="261" r:id="Rd5c67e8b0f5547af"/>
    <p:sldId xmlns:r="http://schemas.openxmlformats.org/officeDocument/2006/relationships" id="262" r:id="R8049fcd63be64753"/>
    <p:sldId xmlns:r="http://schemas.openxmlformats.org/officeDocument/2006/relationships" id="263" r:id="R3135c911f50f469f"/>
    <p:sldId xmlns:r="http://schemas.openxmlformats.org/officeDocument/2006/relationships" id="264" r:id="Rbb9df2dd143646bb"/>
    <p:sldId xmlns:r="http://schemas.openxmlformats.org/officeDocument/2006/relationships" id="265" r:id="Rf1671d4671414b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17e559c23c479b" /><Relationship Type="http://schemas.openxmlformats.org/officeDocument/2006/relationships/slideMaster" Target="/ppt/slideMasters/slideMaster1.xml" Id="R9eb27f0d672842a8" /><Relationship Type="http://schemas.openxmlformats.org/officeDocument/2006/relationships/notesMaster" Target="/ppt/notesMasters/notesMaster1.xml" Id="R7bc146e6e1274dd1" /><Relationship Type="http://schemas.openxmlformats.org/officeDocument/2006/relationships/presProps" Target="/ppt/presProps.xml" Id="Rb54f3bafb8524c56" /><Relationship Type="http://schemas.openxmlformats.org/officeDocument/2006/relationships/tableStyles" Target="/ppt/tableStyles.xml" Id="Rfa91a255656d4625" /><Relationship Type="http://schemas.openxmlformats.org/officeDocument/2006/relationships/slide" Target="/ppt/slides/slide1.xml" Id="Rfb1c1f84feed4f2b" /><Relationship Type="http://schemas.openxmlformats.org/officeDocument/2006/relationships/slide" Target="/ppt/slides/slide2.xml" Id="Rf00816f85e57410c" /><Relationship Type="http://schemas.openxmlformats.org/officeDocument/2006/relationships/slide" Target="/ppt/slides/slide3.xml" Id="Rc39af68f9fc64512" /><Relationship Type="http://schemas.openxmlformats.org/officeDocument/2006/relationships/slide" Target="/ppt/slides/slide4.xml" Id="R2f9d28b80e5b4625" /><Relationship Type="http://schemas.openxmlformats.org/officeDocument/2006/relationships/slide" Target="/ppt/slides/slide5.xml" Id="Ra15bf809ba5442ac" /><Relationship Type="http://schemas.openxmlformats.org/officeDocument/2006/relationships/slide" Target="/ppt/slides/slide6.xml" Id="Rd5c67e8b0f5547af" /><Relationship Type="http://schemas.openxmlformats.org/officeDocument/2006/relationships/slide" Target="/ppt/slides/slide7.xml" Id="R8049fcd63be64753" /><Relationship Type="http://schemas.openxmlformats.org/officeDocument/2006/relationships/slide" Target="/ppt/slides/slide8.xml" Id="R3135c911f50f469f" /><Relationship Type="http://schemas.openxmlformats.org/officeDocument/2006/relationships/slide" Target="/ppt/slides/slide9.xml" Id="Rbb9df2dd143646bb" /><Relationship Type="http://schemas.openxmlformats.org/officeDocument/2006/relationships/slide" Target="/ppt/slides/slide10.xml" Id="Rf1671d4671414b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981005961a4a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c271d8162b47b0" /><Relationship Type="http://schemas.openxmlformats.org/officeDocument/2006/relationships/notesMaster" Target="/ppt/notesMasters/notesMaster1.xml" Id="R427e0c3a372b44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be0aa6dfe04d9f" /><Relationship Type="http://schemas.openxmlformats.org/officeDocument/2006/relationships/notesMaster" Target="/ppt/notesMasters/notesMaster1.xml" Id="Rd52906f35e6249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6b1e74633d42af" /><Relationship Type="http://schemas.openxmlformats.org/officeDocument/2006/relationships/notesMaster" Target="/ppt/notesMasters/notesMaster1.xml" Id="R24a1573e02424c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26a9e591804ef9" /><Relationship Type="http://schemas.openxmlformats.org/officeDocument/2006/relationships/notesMaster" Target="/ppt/notesMasters/notesMaster1.xml" Id="R7cad6fb687794f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4e67471ccb4c4f" /><Relationship Type="http://schemas.openxmlformats.org/officeDocument/2006/relationships/notesMaster" Target="/ppt/notesMasters/notesMaster1.xml" Id="R56f9004923a245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c9829948fd4c9f" /><Relationship Type="http://schemas.openxmlformats.org/officeDocument/2006/relationships/notesMaster" Target="/ppt/notesMasters/notesMaster1.xml" Id="Rac32eaba7c884b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1c44d063ad4b4d" /><Relationship Type="http://schemas.openxmlformats.org/officeDocument/2006/relationships/notesMaster" Target="/ppt/notesMasters/notesMaster1.xml" Id="R7e89c7ead5714c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f4890e910a4f7d" /><Relationship Type="http://schemas.openxmlformats.org/officeDocument/2006/relationships/notesMaster" Target="/ppt/notesMasters/notesMaster1.xml" Id="Ra27dce4ca3044d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37505f7cbc4454" /><Relationship Type="http://schemas.openxmlformats.org/officeDocument/2006/relationships/notesMaster" Target="/ppt/notesMasters/notesMaster1.xml" Id="R62d7e68be80544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c585e8a6b5427b" /><Relationship Type="http://schemas.openxmlformats.org/officeDocument/2006/relationships/notesMaster" Target="/ppt/notesMasters/notesMaster1.xml" Id="R06844df5b30741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el proyecto en una frase y explicar que Event es el centro del dominio.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docs/Documentacion Proyecto/Documento 30 – MVP Técnico Ejecutable.md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el coste del seguimiento manual y el riesgo de duplicar decisiones editoriales.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Documentacion-TFM-Fundae-1.pdf</a:t>
            </a:r>
          </a:p>
          <a:p xmlns:a="http://schemas.openxmlformats.org/drawingml/2006/main">
            <a:r>
              <a:t>- docs/Documentacion Proyecto/Documento 01 - Visión y Arquitectura General del Sistema.md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Recorrer News, Event, Analysis, Content y Publication. Reforzar que Event es el aggregate root principal.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docs/Documentacion Proyecto/Documento 17 – Modelo de Dominio (DDD).md</a:t>
            </a:r>
          </a:p>
          <a:p xmlns:a="http://schemas.openxmlformats.org/drawingml/2006/main">
            <a:r>
              <a:t>- docs/Documentacion Proyecto/Documento 30 – MVP Técnico Ejecutable.md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n8n solo captura. Toda regla, scheduler, IA, seguridad y publicación vive en Spring Boot.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docs/Documentacion Proyecto/Documento 18 – Estructura Spring Boot.md</a:t>
            </a:r>
          </a:p>
          <a:p xmlns:a="http://schemas.openxmlformats.org/drawingml/2006/main">
            <a:r>
              <a:t>- docs/Documentacion Proyecto/Documento 09 V2.0 - Arquitectura de Integraciones y Workflows n8n.md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esta slide como transición a la demostración real. Señalar dashboard, avisos y eventos prioritarios.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slides/assets/dashboard.png (captura local 25/07/2026)</a:t>
            </a:r>
          </a:p>
          <a:p xmlns:a="http://schemas.openxmlformats.org/drawingml/2006/main">
            <a:r>
              <a:t>- frontend/src/app/features/dashboard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Contrastar la pantalla editorial de Eventos con el centro ADMIN de settings.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slides/assets/events.png (captura local 25/07/2026)</a:t>
            </a:r>
          </a:p>
          <a:p xmlns:a="http://schemas.openxmlformats.org/drawingml/2006/main">
            <a:r>
              <a:t>- slides/assets/settings.png (captura local 25/07/2026)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Diferenciar captura externa, inteligencia interna y decisión humana. Mencionar proveedor determinista y Gemini configurable.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docs/Documentacion Proyecto/Documento 23 – Catálogo de Prompts IA.md</a:t>
            </a:r>
          </a:p>
          <a:p xmlns:a="http://schemas.openxmlformats.org/drawingml/2006/main">
            <a:r>
              <a:t>- docs/Documentacion Proyecto/2026_06_27_flujo_completo_wf_01_wf_06.md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JWT, roles y la regla de aprobación. Recalcar que el backend aplica autorización y el contenido editado vuelve a revisión.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docs/Documentacion Proyecto/Documento 13 - Seguridad y Roles.md</a:t>
            </a:r>
          </a:p>
          <a:p xmlns:a="http://schemas.openxmlformats.org/drawingml/2006/main">
            <a:r>
              <a:t>- backend/src/main/java/es/sindicato/intelligence/core/config/SecurityConfig.java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resultados verificados, el audit de producción y el arranque reproducible. No afirmar cobertura porcentual no medida.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docs/Documentacion Proyecto/Documento 15 - Plan de Pruebas.md</a:t>
            </a:r>
          </a:p>
          <a:p xmlns:a="http://schemas.openxmlformats.org/drawingml/2006/main">
            <a:r>
              <a:t>- docs/Documentacion_Final/2026_07_25_informe_preparacion_entrega_tfm.md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resolviendo el problema inicial: menos trabajo repetitivo, un evento por hecho y revisión humana antes de publicar.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docs/Documentacion Proyecto/Documento 30 – MVP Técnico Ejecutable.md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e63993d3f445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44fe81e27a41e2" /><Relationship Type="http://schemas.openxmlformats.org/officeDocument/2006/relationships/slideLayout" Target="/ppt/slideLayouts/slideLayout1.xml" Id="Rfad92004ec0943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d92004ec0943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3d650585f4f67" /><Relationship Type="http://schemas.openxmlformats.org/officeDocument/2006/relationships/notesSlide" Target="/ppt/notesSlides/notesSlide1.xml" Id="Rf5d502bcf2734c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9a06ad4e84e73" /><Relationship Type="http://schemas.openxmlformats.org/officeDocument/2006/relationships/notesSlide" Target="/ppt/notesSlides/notesSlide2.xml" Id="Rb8f550f08f0c4d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e313a3e934454" /><Relationship Type="http://schemas.openxmlformats.org/officeDocument/2006/relationships/notesSlide" Target="/ppt/notesSlides/notesSlide3.xml" Id="R31cc60c875f94d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afe805b584991" /><Relationship Type="http://schemas.openxmlformats.org/officeDocument/2006/relationships/notesSlide" Target="/ppt/notesSlides/notesSlide4.xml" Id="R06ba319c945242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1287c41d44250" /><Relationship Type="http://schemas.openxmlformats.org/officeDocument/2006/relationships/image" Target="/ppt/media/image.jpeg" Id="R091bae9ff87f4d14" /><Relationship Type="http://schemas.openxmlformats.org/officeDocument/2006/relationships/notesSlide" Target="/ppt/notesSlides/notesSlide5.xml" Id="Rd2d129acd8ca41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4d31732de4b79" /><Relationship Type="http://schemas.openxmlformats.org/officeDocument/2006/relationships/image" Target="/ppt/media/image2.jpeg" Id="Rbfaaaa46ee3e436b" /><Relationship Type="http://schemas.openxmlformats.org/officeDocument/2006/relationships/image" Target="/ppt/media/image3.jpeg" Id="Raad77798df144b15" /><Relationship Type="http://schemas.openxmlformats.org/officeDocument/2006/relationships/notesSlide" Target="/ppt/notesSlides/notesSlide6.xml" Id="R6576938afbc949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a9f2a34a84f3f" /><Relationship Type="http://schemas.openxmlformats.org/officeDocument/2006/relationships/notesSlide" Target="/ppt/notesSlides/notesSlide7.xml" Id="R5f69cbc2c0b74b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80ecd77a14b7d" /><Relationship Type="http://schemas.openxmlformats.org/officeDocument/2006/relationships/notesSlide" Target="/ppt/notesSlides/notesSlide8.xml" Id="Rcb3d2967256c49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43e944bb14b2d" /><Relationship Type="http://schemas.openxmlformats.org/officeDocument/2006/relationships/notesSlide" Target="/ppt/notesSlides/notesSlide9.xml" Id="R5109ef391ee649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a0a33b8e946aa" /><Relationship Type="http://schemas.openxmlformats.org/officeDocument/2006/relationships/notesSlide" Target="/ppt/notesSlides/notesSlide10.xml" Id="R5dae72fd05004e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800CD88-4A2D-4F05-B0CE-0B322B75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TFM · INTELIGENCIA APLICADA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D1923CA-7E51-449E-954F-D46C3EF2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723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Sindicato</a:t>
            </a:r>
          </a:p>
          <a:p xmlns:a="http://schemas.openxmlformats.org/drawingml/2006/main">
            <a:pPr algn="l">
              <a:defRPr sz="58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Intelligence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3E68E60-5E8C-47D5-A39D-95A2CCF4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La noticia es materia prima.</a:t>
            </a:r>
          </a:p>
          <a:p xmlns:a="http://schemas.openxmlformats.org/drawingml/2006/main">
            <a:pPr algn="l">
              <a:defRPr sz="217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El evento es la unidad de decisión.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3DDD7-AE9C-43AA-BC98-A2B0A38E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0"/>
            <a:ext cx="3390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3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B4926-CBE6-4B1D-9610-286F4FD4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333500"/>
            <a:ext cx="1676400" cy="1676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F0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event">
            <a:extLst xmlns:a="http://schemas.openxmlformats.org/drawingml/2006/main">
              <a:ext uri="{FF2B5EF4-FFF2-40B4-BE49-F238E27FC236}">
                <a16:creationId xmlns:a16="http://schemas.microsoft.com/office/drawing/2014/main" id="{1475E990-1438-4857-A87E-976F45DB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8859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EVENT</a:t>
            </a:r>
          </a:p>
        </p:txBody>
      </p:sp>
      <p:sp>
        <p:nvSpPr>
          <p:cNvPr id="7" name="cover-flow">
            <a:extLst xmlns:a="http://schemas.openxmlformats.org/drawingml/2006/main">
              <a:ext uri="{FF2B5EF4-FFF2-40B4-BE49-F238E27FC236}">
                <a16:creationId xmlns:a16="http://schemas.microsoft.com/office/drawing/2014/main" id="{1AB2BC46-258E-4026-88F0-652781A2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29000"/>
            <a:ext cx="1809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News</a:t>
            </a:r>
          </a:p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Analysis</a:t>
            </a:r>
          </a:p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</a:t>
            </a:r>
          </a:p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Publication</a:t>
            </a:r>
          </a:p>
        </p:txBody>
      </p:sp>
    </p:spTree>
    <p:extLst>
      <p:ext uri="{BB962C8B-B14F-4D97-AF65-F5344CB8AC3E}">
        <p14:creationId xmlns:p14="http://schemas.microsoft.com/office/powerpoint/2010/main" val="13426086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eyebrow-2">
            <a:extLst xmlns:a="http://schemas.openxmlformats.org/drawingml/2006/main">
              <a:ext uri="{FF2B5EF4-FFF2-40B4-BE49-F238E27FC236}">
                <a16:creationId xmlns:a16="http://schemas.microsoft.com/office/drawing/2014/main" id="{1ECEA48B-F253-4627-B5DA-70A6E781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EL PROBLEMA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A071501-9BF5-4474-9DA2-4BA3EF99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Muchos medios pueden contar un solo hecho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1B076-4ADB-4B6A-AA6A-B3CB1D05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9369E-FF03-4398-9D47-6C7CCD86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Seguimiento manual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F41D08-81C9-4388-80FC-FB695ABA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4191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Revisar RSS, detectar duplicados, clasificar y redactar consume tiempo y fragmenta la visión del asunto.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B09C3-365E-457A-9027-E1C5BEB5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65D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C65D32"/>
                </a:solidFill>
                <a:latin typeface="Arial"/>
                <a:ea typeface="Arial"/>
                <a:cs typeface="Arial"/>
              </a:rPr>
              <a:t>La consecuencia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11B0E-B174-4DB6-8D07-C9190EBD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76850"/>
            <a:ext cx="44291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5 noticias similares pueden acabar en 5 decisiones y 5 publicaciones.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5F363-6CEA-4FB7-AEF4-297F819A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62275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EE17CD-7F30-4C21-81DD-181A4295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62275"/>
            <a:ext cx="8763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D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B460E9-7433-4668-9D9C-82DBB7FE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0025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1BBB1-26AE-4A03-9C06-E9BC6F46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0502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Medio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E0594-04A4-4929-A253-4DD18F83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6700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A674EF-DDFC-432F-A74B-6383B26B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7177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Medio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F5FC89-1770-442C-AF6A-4DBEB0C7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E24044-3E98-4C36-9ABF-3EC0F622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3852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Medio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4F2B99-7401-420F-8807-40954A1C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0050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622BEA-EB9B-4F9B-B90F-EC6EA35E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10527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Medio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AC8058-BB20-4E6F-89F1-2FEACAC4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6725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2E644-5F0B-423E-9399-702AC4EE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77202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Medio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A74DB4-B734-46A9-B0C8-1F755925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76500"/>
            <a:ext cx="19050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E1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77AEC6-8DBB-4C9B-B964-121ADA1E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38450"/>
            <a:ext cx="1485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95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Duplicados</a:t>
            </a:r>
          </a:p>
          <a:p xmlns:a="http://schemas.openxmlformats.org/drawingml/2006/main">
            <a:pPr algn="ctr">
              <a:defRPr sz="17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+ contexto disperso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1C7379-327B-485D-9475-FCD809FD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428875"/>
            <a:ext cx="1371600" cy="137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F0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1D1593-DE08-401B-A23A-1E165BD3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24150"/>
            <a:ext cx="1104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1</a:t>
            </a:r>
          </a:p>
          <a:p xmlns:a="http://schemas.openxmlformats.org/drawingml/2006/main">
            <a:pPr algn="ctr">
              <a:defRPr sz="202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EVENTO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17AF4-F121-4F2D-AA05-B4D4B6A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720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69"/>
          </a:bodyPr>
          <a:lstStyle xmlns:a="http://schemas.openxmlformats.org/drawingml/2006/main"/>
          <a:p xmlns:a="http://schemas.openxmlformats.org/drawingml/2006/main">
            <a:pPr algn="r">
              <a:defRPr sz="202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La plataforma consolida antes de decidir.</a:t>
            </a:r>
          </a:p>
        </p:txBody>
      </p:sp>
      <p:sp>
        <p:nvSpPr>
          <p:cNvPr id="25" name="footer-2">
            <a:extLst xmlns:a="http://schemas.openxmlformats.org/drawingml/2006/main">
              <a:ext uri="{FF2B5EF4-FFF2-40B4-BE49-F238E27FC236}">
                <a16:creationId xmlns:a16="http://schemas.microsoft.com/office/drawing/2014/main" id="{FBF73B07-51FD-4208-8E3E-C38CE4B5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5588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eyebrow-3">
            <a:extLst xmlns:a="http://schemas.openxmlformats.org/drawingml/2006/main">
              <a:ext uri="{FF2B5EF4-FFF2-40B4-BE49-F238E27FC236}">
                <a16:creationId xmlns:a16="http://schemas.microsoft.com/office/drawing/2014/main" id="{87CF102B-4EF5-4664-BF76-FEA5B929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MODELO DE DOMINIO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6EE5774-20F6-44BA-9FE5-187F86C0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El flujo transforma noticias en decisiones publicables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62528-E294-48FD-B37D-EA2F3430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74F7D-643B-492C-A950-A08F2DD2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05150"/>
            <a:ext cx="4953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D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A558D-190F-476D-88DE-92D32C55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05150"/>
            <a:ext cx="4191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094F6-310C-4FFA-9E25-6FE85F6B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05150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4936A-C96E-41B9-B92D-71243EC8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4191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58F8E-2993-4B97-8DC8-36CC627E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428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EB20A-19BE-435D-89AD-143ADD45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NEWS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75884-AE32-4E74-A739-4EAEF26E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1581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Materia prima</a:t>
            </a:r>
          </a:p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capturada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7DAF5-E82D-42D2-B017-D222F948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81250"/>
            <a:ext cx="165735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305DF-55C9-4FCE-B0E6-48C5415F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956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DBCB4-A7DE-42C5-B159-48A26493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196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Hecho consolidado</a:t>
            </a:r>
          </a:p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aggregate root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07A7C-F184-4D7D-88E9-445E980E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71750"/>
            <a:ext cx="1714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B8F355-B0CC-4D00-8012-89C6440D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14650"/>
            <a:ext cx="1485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ANALYSIS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3BFAF-C936-4C66-ACCB-5775D5D0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19600"/>
            <a:ext cx="1866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Lectura IA</a:t>
            </a:r>
          </a:p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con contexto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F4EC32-506D-43A3-9EAB-25ABA7A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71750"/>
            <a:ext cx="1714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9A37B3-9858-44E5-B5F1-5FBA9C71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14650"/>
            <a:ext cx="1485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CONTENT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9B06B-26D1-4DB9-BD19-D54F104D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19600"/>
            <a:ext cx="1866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Borrador sujeto</a:t>
            </a:r>
          </a:p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a revisión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7263FD-BD25-465F-9F5E-3C6059FC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90750"/>
            <a:ext cx="2076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C68E32-C9FE-4831-B9D3-BCED7B78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71750"/>
            <a:ext cx="18478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B74D5-5F49-45D2-8517-B371BCF5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146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PUBLICATION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1884C5-141A-4B9D-9F63-5079F85C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196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Envío aprobado</a:t>
            </a:r>
          </a:p>
          <a:p xmlns:a="http://schemas.openxmlformats.org/drawingml/2006/main">
            <a:pPr algn="ctr">
              <a:defRPr sz="135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y trazable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5CC87C-5809-4B36-A25B-93056990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816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La IA propone. El dominio valida. Una persona aprueba.</a:t>
            </a:r>
          </a:p>
        </p:txBody>
      </p:sp>
      <p:sp>
        <p:nvSpPr>
          <p:cNvPr id="25" name="footer-3">
            <a:extLst xmlns:a="http://schemas.openxmlformats.org/drawingml/2006/main">
              <a:ext uri="{FF2B5EF4-FFF2-40B4-BE49-F238E27FC236}">
                <a16:creationId xmlns:a16="http://schemas.microsoft.com/office/drawing/2014/main" id="{57E29170-EC2E-4CA9-AD67-45B09E81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643672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4">
            <a:extLst xmlns:a="http://schemas.openxmlformats.org/drawingml/2006/main">
              <a:ext uri="{FF2B5EF4-FFF2-40B4-BE49-F238E27FC236}">
                <a16:creationId xmlns:a16="http://schemas.microsoft.com/office/drawing/2014/main" id="{69621545-3F68-4425-A2D9-8A908395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ARQUITECTURA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374CCD76-DB21-476C-A089-5F7112C4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71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Spring Boot concentra el dominio y limita cada integración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93298-F3B9-48A5-BD0E-ADCC3026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B2192-3403-41D5-A0D5-C974324B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57550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26048-86DD-4136-9D0F-C3F6406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E0F40-036D-4E87-9CCE-CA9AB1B8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2038350" cy="25717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DC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2DF55-D5B8-4BC0-8052-9D5B2697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3E472-BD65-4DB4-9051-D0150023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619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Fuentes RSS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n8n · WF-01</a:t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Captura XML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POST /news/bulk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5D626-E0A7-4424-98BE-3DDFE3E6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85950"/>
            <a:ext cx="53149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0B13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C2482-ACC3-4B9F-8499-6E7C4456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52650"/>
            <a:ext cx="462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F0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F0EB"/>
                </a:solidFill>
                <a:latin typeface="Arial"/>
                <a:ea typeface="Arial"/>
                <a:cs typeface="Arial"/>
              </a:rPr>
              <a:t>SPRING BOOT · MONOLITO MODULAR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D4D23-40FB-470E-9120-147128E7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09850"/>
            <a:ext cx="4552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domain  ·  application  ·  infrastructure  · 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6466B3-988C-485A-977C-2538484C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24200"/>
            <a:ext cx="4362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CCF6A1-BFB0-4C12-AF26-C38FFE00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71850"/>
            <a:ext cx="42100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Reglas de negocio</a:t>
            </a:r>
          </a:p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Casos de uso</a:t>
            </a:r>
          </a:p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JWT y roles</a:t>
            </a:r>
          </a:p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IA y validación</a:t>
            </a:r>
          </a:p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Automatizaciones</a:t>
            </a:r>
          </a:p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Telegram y auditoría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14916-EC2F-44FF-B2A4-A4DA16CE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33600"/>
            <a:ext cx="2400300" cy="25717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D9F0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825346-D4CB-4A21-B2C4-E3292BBC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SALIDAS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B69DB7-2960-4F45-8D33-15AF7850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76550"/>
            <a:ext cx="18669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Angular</a:t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Gemini opcional</a:t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Telegram</a:t>
            </a:r>
          </a:p>
          <a:p xmlns:a="http://schemas.openxmlformats.org/drawingml/2006/main">
            <a:pPr algn="ctr">
              <a:defRPr sz="1650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MailHog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91B6C4-453A-413E-83A0-7A6DD4DB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467350"/>
            <a:ext cx="531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DDD · Clean Architecture · PostgreSQL + Flyway</a:t>
            </a:r>
          </a:p>
        </p:txBody>
      </p:sp>
      <p:sp>
        <p:nvSpPr>
          <p:cNvPr id="18" name="footer-4">
            <a:extLst xmlns:a="http://schemas.openxmlformats.org/drawingml/2006/main">
              <a:ext uri="{FF2B5EF4-FFF2-40B4-BE49-F238E27FC236}">
                <a16:creationId xmlns:a16="http://schemas.microsoft.com/office/drawing/2014/main" id="{1F8FB12D-0BFC-4B3A-853E-03ABDEF0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704234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5">
            <a:extLst xmlns:a="http://schemas.openxmlformats.org/drawingml/2006/main">
              <a:ext uri="{FF2B5EF4-FFF2-40B4-BE49-F238E27FC236}">
                <a16:creationId xmlns:a16="http://schemas.microsoft.com/office/drawing/2014/main" id="{7E56216E-45D4-4882-9E9A-BAB29711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PRODUCTO OPERATIVO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C0AD5540-73DC-4401-803C-2083AC66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El dashboard convierte datos dispersos en prioridades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6AF09-97F2-4330-A55D-57EC9C1E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93F8C-B8BA-40CC-A0AC-1180E1FC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638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98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Una lectura rápida para decidir qué necesita atención hoy.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56B26F-4A1C-4A84-939A-64D200C8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• métricas del día</a:t>
            </a:r>
          </a:p>
          <a:p xmlns:a="http://schemas.openxmlformats.org/drawingml/2006/main">
            <a:pPr algn="l">
              <a:defRPr sz="172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• avisos editoriales</a:t>
            </a:r>
          </a:p>
          <a:p xmlns:a="http://schemas.openxmlformats.org/drawingml/2006/main">
            <a:pPr algn="l">
              <a:defRPr sz="172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• eventos críticos</a:t>
            </a:r>
          </a:p>
          <a:p xmlns:a="http://schemas.openxmlformats.org/drawingml/2006/main">
            <a:pPr algn="l">
              <a:defRPr sz="172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• automatizaciones manuales</a:t>
            </a:r>
          </a:p>
          <a:p xmlns:a="http://schemas.openxmlformats.org/drawingml/2006/main">
            <a:pPr algn="l">
              <a:defRPr sz="172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• acceso por 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FB90D-3C36-4E90-BEDB-A1D4EF9C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La UI no decide: expone contexto y acciones de dominio.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A9462-DEE0-42DB-AA3E-D7EBBF00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37235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0B1323"/>
          </a:solidFill>
          <a:ln xmlns:a="http://schemas.openxmlformats.org/drawingml/2006/main" w="9525">
            <a:solidFill>
              <a:srgbClr val="0B1323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bae9ff87f4d14"/>
          <a:srcRect xmlns:a="http://schemas.openxmlformats.org/drawingml/2006/main" l="0" t="75" r="0" b="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8650" y="1885950"/>
            <a:ext cx="7219950" cy="4057650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  <p:sp>
        <p:nvSpPr>
          <p:cNvPr id="9" name="footer-5">
            <a:extLst xmlns:a="http://schemas.openxmlformats.org/drawingml/2006/main">
              <a:ext uri="{FF2B5EF4-FFF2-40B4-BE49-F238E27FC236}">
                <a16:creationId xmlns:a16="http://schemas.microsoft.com/office/drawing/2014/main" id="{66C46EE8-A9F0-4212-B12A-4D061978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768902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-6">
            <a:extLst xmlns:a="http://schemas.openxmlformats.org/drawingml/2006/main">
              <a:ext uri="{FF2B5EF4-FFF2-40B4-BE49-F238E27FC236}">
                <a16:creationId xmlns:a16="http://schemas.microsoft.com/office/drawing/2014/main" id="{544E0E92-9395-41A8-BC74-83D02BFC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BACKOFFICE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BA62F8F4-4B95-42D4-B898-07F4F51D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Eventos y configuración cubren decisión y operación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85B257-06BB-4E77-BA77-010D75EA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8CF35-2A91-4229-9F93-4CC8D2EC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66900"/>
            <a:ext cx="5505450" cy="3162300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0B1323"/>
          </a:solidFill>
          <a:ln xmlns:a="http://schemas.openxmlformats.org/drawingml/2006/main" w="9525">
            <a:solidFill>
              <a:srgbClr val="0B1323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aaa46ee3e436b"/>
          <a:srcRect xmlns:a="http://schemas.openxmlformats.org/drawingml/2006/main" l="0" t="50" r="0" b="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943100"/>
            <a:ext cx="5353050" cy="3009900"/>
          </a:xfrm>
          <a:prstGeom xmlns:a="http://schemas.openxmlformats.org/drawingml/2006/main" prst="roundRect">
            <a:avLst>
              <a:gd name="adj" fmla="val 379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550E1-6E28-4465-80CA-CB559757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66900"/>
            <a:ext cx="5505450" cy="3162300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0B1323"/>
          </a:solidFill>
          <a:ln xmlns:a="http://schemas.openxmlformats.org/drawingml/2006/main" w="9525">
            <a:solidFill>
              <a:srgbClr val="0B1323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77798df144b15"/>
          <a:srcRect xmlns:a="http://schemas.openxmlformats.org/drawingml/2006/main" l="0" t="50" r="0" b="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5550" y="1943100"/>
            <a:ext cx="5353050" cy="3009900"/>
          </a:xfrm>
          <a:prstGeom xmlns:a="http://schemas.openxmlformats.org/drawingml/2006/main" prst="roundRect">
            <a:avLst>
              <a:gd name="adj" fmla="val 379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DF4E4-8085-4961-8592-C99C1C38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EVENTOS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1305E-9323-4BCD-932C-6642C4EA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Filtros, impacto, noticias vinculadas y estado editorial.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C2B6A-530B-4201-92BA-BA3BCD6A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197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SETTINGS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C0550-3804-4624-A22D-E2450275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562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Métricas IA, prompts, automatizaciones y Telegram.</a:t>
            </a:r>
          </a:p>
        </p:txBody>
      </p:sp>
      <p:sp>
        <p:nvSpPr>
          <p:cNvPr id="12" name="footer-6">
            <a:extLst xmlns:a="http://schemas.openxmlformats.org/drawingml/2006/main">
              <a:ext uri="{FF2B5EF4-FFF2-40B4-BE49-F238E27FC236}">
                <a16:creationId xmlns:a16="http://schemas.microsoft.com/office/drawing/2014/main" id="{5F472C08-C6A8-4723-A6E7-8B5771EB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815011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-7">
            <a:extLst xmlns:a="http://schemas.openxmlformats.org/drawingml/2006/main">
              <a:ext uri="{FF2B5EF4-FFF2-40B4-BE49-F238E27FC236}">
                <a16:creationId xmlns:a16="http://schemas.microsoft.com/office/drawing/2014/main" id="{3AAEFCB9-B5B0-4518-A30E-73AA20AE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AUTOMATIZACIÓN E IA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E318E46F-3167-4852-AF8B-4C585450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La IA acelera el flujo sin sustituir la revisión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130D8-9257-4022-9C5E-AC45FC9E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762000" y="5467350"/>
            <a:ext cx="104584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C0CA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A2EC1-A65C-4144-B2A7-E139D182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3238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DC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BD7E3-5E28-4D5A-9EBC-734D8142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 · CAPTURA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E8FBA-5373-4010-A80F-B71AD5CF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7051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n8n · WF-01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RSS/XML</a:t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Normalización</a:t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Alta masiva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22674-08CE-4E54-B1D1-CB33C148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81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F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398F8-296F-4565-A14E-9EACC78E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673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Entrada externa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D8116-7B50-462D-947B-B2BF6781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952625"/>
            <a:ext cx="3238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C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99E96-74D8-4CD7-B822-7D4FCCC1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2479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02 · INTELIGENCIA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1D1F36-3141-418A-9D9B-23CD7AF8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819400"/>
            <a:ext cx="27051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Spring · WF-02 a WF-04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Clasificar</a:t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Agrupar eventos</a:t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Analizar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BF401-B4F6-48FF-9C83-C543EC15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381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F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8394D-71DA-4BCA-A1FA-09BAFBAF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673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Reglas + validación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47549D-BD52-40C0-B751-5661E560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238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D9F0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ABE510-CE5C-4784-AD7B-E28C785D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03 · DECISIÓN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666C4-B007-4BC8-8DD3-A435E33D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19400"/>
            <a:ext cx="27051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Spring · WF-05/06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Generar</a:t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Revisar y aprobar</a:t>
            </a:r>
          </a:p>
          <a:p xmlns:a="http://schemas.openxmlformats.org/drawingml/2006/main">
            <a:pPr algn="l">
              <a:defRPr sz="1725" b="0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0F18"/>
                </a:solidFill>
                <a:latin typeface="Arial"/>
                <a:ea typeface="Arial"/>
                <a:cs typeface="Arial"/>
              </a:rPr>
              <a:t>Publicar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9A2BD2-CEB1-440A-9583-1004E5B5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381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F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F59BC4-E347-40CB-A855-4AF1648D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673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Control humano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B9C56E-A3C6-43B0-9D5E-CB9932D0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6000750"/>
            <a:ext cx="845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Prompts versionados · respuesta JSON validada · métricas por operación</a:t>
            </a:r>
          </a:p>
        </p:txBody>
      </p:sp>
      <p:sp>
        <p:nvSpPr>
          <p:cNvPr id="21" name="footer-7">
            <a:extLst xmlns:a="http://schemas.openxmlformats.org/drawingml/2006/main">
              <a:ext uri="{FF2B5EF4-FFF2-40B4-BE49-F238E27FC236}">
                <a16:creationId xmlns:a16="http://schemas.microsoft.com/office/drawing/2014/main" id="{F6AFB70E-32DE-4758-A131-7C8ABC48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27238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3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47B29C-6557-424B-BE5D-7D10DECC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F0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9F0EB"/>
                </a:solidFill>
                <a:latin typeface="Arial"/>
                <a:ea typeface="Arial"/>
                <a:cs typeface="Arial"/>
              </a:rPr>
              <a:t>SEGURIDAD Y GOBIERNO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4E13D0-02C6-4996-8E68-A8EE512E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Automatizar no significa perder el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A0BAE-914D-47B1-B014-059CCCED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4F3EB-5050-4E3D-920B-C21CEBE2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145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F0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F0EB"/>
                </a:solidFill>
                <a:latin typeface="Arial"/>
                <a:ea typeface="Arial"/>
                <a:cs typeface="Arial"/>
              </a:rPr>
              <a:t>CONTROLES TÉCNICOS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872C87-03D1-4378-A0DF-5E87A41B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428625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JWT de 15 min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Refresh de 7 días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Roles ADMIN / EDITOR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Rate limiting de autenticación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Secretos fuera de Git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de acciones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E454F-6B3A-4157-A5DD-3E687D0A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38350"/>
            <a:ext cx="60198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CD5C4-8600-4949-93DD-D365605D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812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E1D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7E1D7"/>
                </a:solidFill>
                <a:latin typeface="Arial"/>
                <a:ea typeface="Arial"/>
                <a:cs typeface="Arial"/>
              </a:rPr>
              <a:t>REGLA EDITORIAL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FE35AD-A821-421D-9957-D2E0CC2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6705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8110B-372D-4A99-901A-CEC727FB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43250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39ABA7-A21D-4C63-A3CE-EE94A91E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67050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CB247C-4F89-468E-A11B-C2774C0B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43250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D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0AC4F-9769-4B6E-94AD-8B3777BD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52750"/>
            <a:ext cx="1447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D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342091-F7DB-484E-977A-13B19109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133725"/>
            <a:ext cx="121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D2A76B-9CEC-41D5-9058-2F4ABA4E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38600"/>
            <a:ext cx="421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F0E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F0EB"/>
                </a:solidFill>
                <a:latin typeface="Arial"/>
                <a:ea typeface="Arial"/>
                <a:cs typeface="Arial"/>
              </a:rPr>
              <a:t>Solo después puede publicarse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91D45-E722-4E14-9E85-144425B4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43450"/>
            <a:ext cx="451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 IA nunca aprueba ni publica por sí sola.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9878A-90EA-471B-9C90-F8EF84AA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B8C0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8C0C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515479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498A7FB7-820C-450F-A8D2-44F40B86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CALIDAD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7075225-AFD0-46BD-8A23-38612D8D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La entrega se apoya en evidencia reproducible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1F3219-409C-414B-BE9B-C1037F05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766CE-2A93-402D-A5AC-62EACF5D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Baterías automatizadas + build + validadores + Docker.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5A34A-9C15-45B6-B65F-E08CA14A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2385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D9F0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1FC09-E580-4484-97CC-67F03CEB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2705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347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65C8A-0B3D-4969-8B98-DBBF65C5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pruebas 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EAD2E-5895-4D68-BB5D-EB559C76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457450"/>
            <a:ext cx="32385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DC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8EE01E-ACF6-41CF-8ABB-8B57C588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781300"/>
            <a:ext cx="2705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163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FA2DD-D46F-485F-AFD1-D0CAB461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86200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pruebas frontend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13D610-377D-4F83-B5DB-3BBF4965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57450"/>
            <a:ext cx="32385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7E1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1E04A-CE98-4901-B5CA-FB1A88F9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81300"/>
            <a:ext cx="2705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C65D32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C65D32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E0FD1D-4925-4CFB-8716-1094C06F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86200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pruebas E2E mock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E9D8B9-CD59-45F7-BBD1-B389F9E1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805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805C"/>
                </a:solidFill>
                <a:latin typeface="Arial"/>
                <a:ea typeface="Arial"/>
                <a:cs typeface="Arial"/>
              </a:rPr>
              <a:t>✓ Angular production build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6008D5-811A-4A9C-950B-3B7A5BF2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2197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805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805C"/>
                </a:solidFill>
                <a:latin typeface="Arial"/>
                <a:ea typeface="Arial"/>
                <a:cs typeface="Arial"/>
              </a:rPr>
              <a:t>✓ 0 vulnerabilidades de producción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1C371F-835F-4EB6-A9DC-64E168F1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19700"/>
            <a:ext cx="3562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805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805C"/>
                </a:solidFill>
                <a:latin typeface="Arial"/>
                <a:ea typeface="Arial"/>
                <a:cs typeface="Arial"/>
              </a:rPr>
              <a:t>✓ Compose, PowerShell y WF-01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F1C50-CD36-4E76-9AB8-359FA25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293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7A98F-1E95-472A-9660-9EB2A52E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76071"/>
                </a:solidFill>
                <a:latin typeface="Arial"/>
                <a:ea typeface="Arial"/>
                <a:cs typeface="Arial"/>
              </a:rPr>
              <a:t>Ejecución de evaluación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70F1BE-53B6-4EF6-8F8C-97F769C2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9721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.\tfm-start.ps1   →   .\tfm-check.ps1</a:t>
            </a:r>
          </a:p>
        </p:txBody>
      </p:sp>
      <p:sp>
        <p:nvSpPr>
          <p:cNvPr id="20" name="footer-9">
            <a:extLst xmlns:a="http://schemas.openxmlformats.org/drawingml/2006/main">
              <a:ext uri="{FF2B5EF4-FFF2-40B4-BE49-F238E27FC236}">
                <a16:creationId xmlns:a16="http://schemas.microsoft.com/office/drawing/2014/main" id="{A1F3AD16-CAC2-45F1-B8AD-CEBD503C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912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375174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B99A1-5841-44D5-A945-1AD46A34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D766E"/>
                </a:solidFill>
                <a:latin typeface="Arial"/>
                <a:ea typeface="Arial"/>
                <a:cs typeface="Arial"/>
              </a:rPr>
              <a:t>CONCLUSIÓN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DC9B9938-CA29-4F0A-8D5E-A26FDA6B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971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Automatizar lo repetitivo.</a:t>
            </a:r>
          </a:p>
          <a:p xmlns:a="http://schemas.openxmlformats.org/drawingml/2006/main">
            <a:pPr algn="l">
              <a:defRPr sz="4950" b="1">
                <a:solidFill>
                  <a:srgbClr val="0A0F18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A0F18"/>
                </a:solidFill>
                <a:latin typeface="Arial"/>
                <a:ea typeface="Arial"/>
                <a:cs typeface="Arial"/>
              </a:rPr>
              <a:t>Mantener humana la decisión.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AB61C-CD90-40DB-8B90-55270532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0"/>
            <a:ext cx="685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4590D-A601-4B26-8C4D-302F7758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14850"/>
            <a:ext cx="781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7607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76071"/>
                </a:solidFill>
                <a:latin typeface="Arial"/>
                <a:ea typeface="Arial"/>
                <a:cs typeface="Arial"/>
              </a:rPr>
              <a:t>Sindicato Intelligence convierte noticias dispersas en eventos trazables, análisis consolidados y contenido listo para revisión.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41C8D-F3B3-401A-B262-BCE83C07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43400"/>
            <a:ext cx="27051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B13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259CC-DABF-4424-8A37-60FF7891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629150"/>
            <a:ext cx="21717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872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MVP ejecutable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Docker · API · Backoffice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IA · Telegram · Auditoría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E67F8-297C-47BB-85AA-AFAC4109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341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D76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0D766E"/>
                </a:solidFill>
                <a:latin typeface="Arial"/>
                <a:ea typeface="Arial"/>
                <a:cs typeface="Arial"/>
              </a:rPr>
              <a:t>github.com/titiantonio/sindicato-intelligence</a:t>
            </a:r>
          </a:p>
        </p:txBody>
      </p:sp>
    </p:spTree>
    <p:extLst>
      <p:ext uri="{BB962C8B-B14F-4D97-AF65-F5344CB8AC3E}">
        <p14:creationId xmlns:p14="http://schemas.microsoft.com/office/powerpoint/2010/main" val="4909490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2026-07-26T10:05:35.6680000Z</dcterms:created>
  <dcterms:modified xsi:type="dcterms:W3CDTF">2026-07-26T10:05:35.6680000Z</dcterms:modified>
</coreProperties>
</file>